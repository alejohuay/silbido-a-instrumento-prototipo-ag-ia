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d7be9d407e4379" /><Relationship Type="http://schemas.openxmlformats.org/officeDocument/2006/relationships/extended-properties" Target="/docProps/app.xml" Id="Rd6b706d5cbc64767" /><Relationship Type="http://schemas.openxmlformats.org/officeDocument/2006/relationships/officeDocument" Target="/ppt/presentation.xml" Id="Rec3f4a8b0da3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ed66a85d7a4aa6"/>
  </p:sldMasterIdLst>
  <p:notesMasterIdLst>
    <p:notesMasterId xmlns:r="http://schemas.openxmlformats.org/officeDocument/2006/relationships" r:id="R40fd9faf07384d86"/>
  </p:notesMasterIdLst>
  <p:sldIdLst>
    <p:sldId xmlns:r="http://schemas.openxmlformats.org/officeDocument/2006/relationships" id="256" r:id="Re033c92447134a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7c4aaaa784275" /><Relationship Type="http://schemas.openxmlformats.org/officeDocument/2006/relationships/slideMaster" Target="/ppt/slideMasters/slideMaster1.xml" Id="R1ded66a85d7a4aa6" /><Relationship Type="http://schemas.openxmlformats.org/officeDocument/2006/relationships/notesMaster" Target="/ppt/notesMasters/notesMaster1.xml" Id="R40fd9faf07384d86" /><Relationship Type="http://schemas.openxmlformats.org/officeDocument/2006/relationships/presProps" Target="/ppt/presProps.xml" Id="Rca1a4b08e1694224" /><Relationship Type="http://schemas.openxmlformats.org/officeDocument/2006/relationships/tableStyles" Target="/ppt/tableStyles.xml" Id="R50f271d366774239" /><Relationship Type="http://schemas.openxmlformats.org/officeDocument/2006/relationships/slide" Target="/ppt/slides/slide1.xml" Id="Re033c9244713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7e7e028fe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15d618fb3456c" /><Relationship Type="http://schemas.openxmlformats.org/officeDocument/2006/relationships/notesMaster" Target="/ppt/notesMasters/notesMaster1.xml" Id="R1026309b4d7140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la evidencia disponible de convergencia, sin presentar la comparación reducida como un factorial completo.</a:t>
            </a:r>
          </a:p>
          <a:p xmlns:a="http://schemas.openxmlformats.org/drawingml/2006/main">
            <a:r>
              <a:t>B alcanzó el mayor fitness medio final (0.730850), pero A ganó la semilla 42 y B la 101.</a:t>
            </a:r>
          </a:p>
          <a:p xmlns:a="http://schemas.openxmlformats.org/drawingml/2006/main">
            <a:r>
              <a:t>A/B retuvieron cerca de 3.3 % de la diversidad inicial; C retuvo 43.9 %. Esto indica distinta concentración poblacional, no prueba por sí solo convergencia prematura.</a:t>
            </a:r>
          </a:p>
          <a:p xmlns:a="http://schemas.openxmlformats.org/drawingml/2006/main">
            <a:r>
              <a:t>Fuente: resultados/operadores/dia3_2026-10-21_64617f8/historial.csv y resumen.csv. Seis corridas principales; STFT provisional; 2550 evaluaciones por corrida.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43656d675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f306fd82040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f46fdb98142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010213dc443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3d29803d844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3dc7b83eb47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8A4FC9-A614-45CC-85F5-949CBDC86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0F9078-DA85-4604-895B-16C3E22532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2AE5FE-41D1-4F59-9FE5-494D1A66A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D2F216-F6B1-4B3A-A6C7-741F442EE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BB8EE9-E6EA-455D-A3E0-C31F7A83DD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61B197-5530-43EE-8AF8-6CF3760C8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6F10CF-AA0B-45BD-AE73-7D49853869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D490D7-55A3-405D-B354-037537D158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50BAF6-1FD7-438D-A65E-6B1BEE997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3343F0-D8B6-4436-98D4-2E32D5ACD3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8d4c92fcc4f7d" /><Relationship Type="http://schemas.openxmlformats.org/officeDocument/2006/relationships/slideLayout" Target="/ppt/slideLayouts/slideLayout1.xml" Id="R574df9dcd796404c" /><Relationship Type="http://schemas.openxmlformats.org/officeDocument/2006/relationships/slideLayout" Target="/ppt/slideLayouts/slideLayout2.xml" Id="R5a9ee2eb1cc74053" /><Relationship Type="http://schemas.openxmlformats.org/officeDocument/2006/relationships/slideLayout" Target="/ppt/slideLayouts/slideLayout3.xml" Id="Ra92449aa75534582" /><Relationship Type="http://schemas.openxmlformats.org/officeDocument/2006/relationships/slideLayout" Target="/ppt/slideLayouts/slideLayout4.xml" Id="R7cef08a613b24925" /><Relationship Type="http://schemas.openxmlformats.org/officeDocument/2006/relationships/slideLayout" Target="/ppt/slideLayouts/slideLayout5.xml" Id="R4c8dd185a5a94344" /><Relationship Type="http://schemas.openxmlformats.org/officeDocument/2006/relationships/slideLayout" Target="/ppt/slideLayouts/slideLayout6.xml" Id="Rfbb62a5dee1047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df9dcd796404c"/>
    <p:sldLayoutId xmlns:r="http://schemas.openxmlformats.org/officeDocument/2006/relationships" id="2147483650" r:id="R5a9ee2eb1cc74053"/>
    <p:sldLayoutId xmlns:r="http://schemas.openxmlformats.org/officeDocument/2006/relationships" id="2147483651" r:id="Ra92449aa75534582"/>
    <p:sldLayoutId xmlns:r="http://schemas.openxmlformats.org/officeDocument/2006/relationships" id="2147483652" r:id="R7cef08a613b24925"/>
    <p:sldLayoutId xmlns:r="http://schemas.openxmlformats.org/officeDocument/2006/relationships" id="2147483653" r:id="R4c8dd185a5a94344"/>
    <p:sldLayoutId xmlns:r="http://schemas.openxmlformats.org/officeDocument/2006/relationships" id="2147483654" r:id="Rfbb62a5dee1047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ccec022f14ebb" /><Relationship Type="http://schemas.openxmlformats.org/officeDocument/2006/relationships/chart" Target="/ppt/slides/charts/chart1.xml" Id="R153536ec1eca4696" /><Relationship Type="http://schemas.openxmlformats.org/officeDocument/2006/relationships/chart" Target="/ppt/slides/charts/chart2.xml" Id="R10bdaa8479fa4bd9" /><Relationship Type="http://schemas.openxmlformats.org/officeDocument/2006/relationships/notesSlide" Target="/ppt/notesSlides/notesSlide1.xml" Id="R9692587b9bf341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4213D"/>
                </a:solidFill>
              </a:rPr>
              <a:t>Mejor fitness global medio por generación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4213D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</c:v>
          </c:tx>
          <c:spPr>
            <a:ln xmlns:a="http://schemas.openxmlformats.org/drawingml/2006/main" w="28575">
              <a:solidFill>
                <a:srgbClr val="F4A2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4A261"/>
              </a:solidFill>
            </c:spPr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numCache>
            </c:num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0.710833989</c:v>
                </c:pt>
                <c:pt idx="1">
                  <c:v>0.722592367</c:v>
                </c:pt>
                <c:pt idx="2">
                  <c:v>0.724872554</c:v>
                </c:pt>
                <c:pt idx="3">
                  <c:v>0.725478612</c:v>
                </c:pt>
                <c:pt idx="4">
                  <c:v>0.72599674</c:v>
                </c:pt>
                <c:pt idx="5">
                  <c:v>0.726071374</c:v>
                </c:pt>
                <c:pt idx="6">
                  <c:v>0.726093687</c:v>
                </c:pt>
                <c:pt idx="7">
                  <c:v>0.72612431</c:v>
                </c:pt>
                <c:pt idx="8">
                  <c:v>0.726131553</c:v>
                </c:pt>
                <c:pt idx="9">
                  <c:v>0.726134601</c:v>
                </c:pt>
                <c:pt idx="10">
                  <c:v>0.726136022</c:v>
                </c:pt>
              </c:numCache>
            </c:numRef>
          </c:val>
          <c:smooth val="0"/>
        </c:ser>
        <c:ser>
          <c:idx val="1"/>
          <c:order val="1"/>
          <c:tx>
            <c:v>B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A6A6"/>
              </a:solidFill>
            </c:spPr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numCache>
            </c:num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0.710833989</c:v>
                </c:pt>
                <c:pt idx="1">
                  <c:v>0.7208359</c:v>
                </c:pt>
                <c:pt idx="2">
                  <c:v>0.725395206</c:v>
                </c:pt>
                <c:pt idx="3">
                  <c:v>0.727806667</c:v>
                </c:pt>
                <c:pt idx="4">
                  <c:v>0.729367932</c:v>
                </c:pt>
                <c:pt idx="5">
                  <c:v>0.730061425</c:v>
                </c:pt>
                <c:pt idx="6">
                  <c:v>0.730517776</c:v>
                </c:pt>
                <c:pt idx="7">
                  <c:v>0.73072255</c:v>
                </c:pt>
                <c:pt idx="8">
                  <c:v>0.730792455</c:v>
                </c:pt>
                <c:pt idx="9">
                  <c:v>0.73080789</c:v>
                </c:pt>
                <c:pt idx="10">
                  <c:v>0.73085022</c:v>
                </c:pt>
              </c:numCache>
            </c:numRef>
          </c:val>
          <c:smooth val="0"/>
        </c:ser>
        <c:ser>
          <c:idx val="2"/>
          <c:order val="2"/>
          <c:tx>
            <c:v>C</c:v>
          </c:tx>
          <c:spPr>
            <a:ln xmlns:a="http://schemas.openxmlformats.org/drawingml/2006/main" w="28575">
              <a:solidFill>
                <a:srgbClr val="57759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77590"/>
              </a:solidFill>
            </c:spPr>
          </c:marker>
          <c:cat>
            <c:numRef>
              <c:f>'Chart Data'!$E$2:$E$12</c:f>
              <c:numCache>
                <c:formatCode>General</c:formatCod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numCache>
            </c:num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0.710833989</c:v>
                </c:pt>
                <c:pt idx="1">
                  <c:v>0.716133041</c:v>
                </c:pt>
                <c:pt idx="2">
                  <c:v>0.718599581</c:v>
                </c:pt>
                <c:pt idx="3">
                  <c:v>0.721660232</c:v>
                </c:pt>
                <c:pt idx="4">
                  <c:v>0.723104211</c:v>
                </c:pt>
                <c:pt idx="5">
                  <c:v>0.723455351</c:v>
                </c:pt>
                <c:pt idx="6">
                  <c:v>0.724290204</c:v>
                </c:pt>
                <c:pt idx="7">
                  <c:v>0.724515952</c:v>
                </c:pt>
                <c:pt idx="8">
                  <c:v>0.724715255</c:v>
                </c:pt>
                <c:pt idx="9">
                  <c:v>0.724774906</c:v>
                </c:pt>
                <c:pt idx="10">
                  <c:v>0.724787225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A"/>
                    </a:solidFill>
                  </a:rPr>
                  <a:t>Generación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34"/>
          <c:min val="0.70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A"/>
                    </a:solidFill>
                  </a:rPr>
                  <a:t>Fitness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A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0.0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415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213D"/>
                </a:solidFill>
              </a:rPr>
              <a:t>Diversidad final media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4213D"/>
              </a:solidFill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Diversidad</c:v>
          </c:tx>
          <c:spPr>
            <a:solidFill xmlns:a="http://schemas.openxmlformats.org/drawingml/2006/main">
              <a:srgbClr val="00A6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4A26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A6A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7759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0.009408595</c:v>
                </c:pt>
                <c:pt idx="1">
                  <c:v>0.009313223</c:v>
                </c:pt>
                <c:pt idx="2">
                  <c:v>0.125190096</c:v>
                </c:pt>
              </c:numCache>
            </c:numRef>
          </c:val>
        </c:ser>
        <c:dLbls>
          <c:numFmt formatCode="0.0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341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3415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top">
            <a:extLst xmlns:a="http://schemas.openxmlformats.org/drawingml/2006/main">
              <a:ext uri="{FF2B5EF4-FFF2-40B4-BE49-F238E27FC236}">
                <a16:creationId xmlns:a16="http://schemas.microsoft.com/office/drawing/2014/main" id="{A4482955-7949-404C-9AE0-6869BD2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02A195-95D5-46C7-A519-8564AF7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13D"/>
                </a:solidFill>
              </a:defRPr>
            </a:defPPr>
            <a:lvl1pPr>
              <a:defRPr sz="2250" b="1">
                <a:solidFill>
                  <a:srgbClr val="14213D"/>
                </a:solidFill>
              </a:defRPr>
            </a:lvl1pPr>
            <a:lvl2pPr>
              <a:defRPr sz="2250" b="1">
                <a:solidFill>
                  <a:srgbClr val="14213D"/>
                </a:solidFill>
              </a:defRPr>
            </a:lvl2pPr>
            <a:lvl3pPr>
              <a:defRPr sz="2250" b="1">
                <a:solidFill>
                  <a:srgbClr val="14213D"/>
                </a:solidFill>
              </a:defRPr>
            </a:lvl3pPr>
            <a:lvl4pPr>
              <a:defRPr sz="2250" b="1">
                <a:solidFill>
                  <a:srgbClr val="14213D"/>
                </a:solidFill>
              </a:defRPr>
            </a:lvl4pPr>
            <a:lvl5pPr>
              <a:defRPr sz="2250" b="1">
                <a:solidFill>
                  <a:srgbClr val="14213D"/>
                </a:solidFill>
              </a:defRPr>
            </a:lvl5pPr>
            <a:lvl6pPr>
              <a:defRPr sz="2250" b="1">
                <a:solidFill>
                  <a:srgbClr val="14213D"/>
                </a:solidFill>
              </a:defRPr>
            </a:lvl6pPr>
            <a:lvl7pPr>
              <a:defRPr sz="2250" b="1">
                <a:solidFill>
                  <a:srgbClr val="14213D"/>
                </a:solidFill>
              </a:defRPr>
            </a:lvl7pPr>
            <a:lvl8pPr>
              <a:defRPr sz="2250" b="1">
                <a:solidFill>
                  <a:srgbClr val="14213D"/>
                </a:solidFill>
              </a:defRPr>
            </a:lvl8pPr>
            <a:lvl9pPr>
              <a:defRPr sz="2250" b="1">
                <a:solidFill>
                  <a:srgbClr val="14213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Convergencia de las combinaciones A, B y C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C8C977-8673-495A-B1CC-B7B6CC86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F6B7A"/>
                </a:solidFill>
              </a:defRPr>
            </a:defPPr>
            <a:lvl1pPr>
              <a:defRPr sz="1125">
                <a:solidFill>
                  <a:srgbClr val="5F6B7A"/>
                </a:solidFill>
              </a:defRPr>
            </a:lvl1pPr>
            <a:lvl2pPr>
              <a:defRPr sz="1125">
                <a:solidFill>
                  <a:srgbClr val="5F6B7A"/>
                </a:solidFill>
              </a:defRPr>
            </a:lvl2pPr>
            <a:lvl3pPr>
              <a:defRPr sz="1125">
                <a:solidFill>
                  <a:srgbClr val="5F6B7A"/>
                </a:solidFill>
              </a:defRPr>
            </a:lvl3pPr>
            <a:lvl4pPr>
              <a:defRPr sz="1125">
                <a:solidFill>
                  <a:srgbClr val="5F6B7A"/>
                </a:solidFill>
              </a:defRPr>
            </a:lvl4pPr>
            <a:lvl5pPr>
              <a:defRPr sz="1125">
                <a:solidFill>
                  <a:srgbClr val="5F6B7A"/>
                </a:solidFill>
              </a:defRPr>
            </a:lvl5pPr>
            <a:lvl6pPr>
              <a:defRPr sz="1125">
                <a:solidFill>
                  <a:srgbClr val="5F6B7A"/>
                </a:solidFill>
              </a:defRPr>
            </a:lvl6pPr>
            <a:lvl7pPr>
              <a:defRPr sz="1125">
                <a:solidFill>
                  <a:srgbClr val="5F6B7A"/>
                </a:solidFill>
              </a:defRPr>
            </a:lvl7pPr>
            <a:lvl8pPr>
              <a:defRPr sz="1125">
                <a:solidFill>
                  <a:srgbClr val="5F6B7A"/>
                </a:solidFill>
              </a:defRPr>
            </a:lvl8pPr>
            <a:lvl9pPr>
              <a:defRPr sz="1125">
                <a:solidFill>
                  <a:srgbClr val="5F6B7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</a:defRPr>
            </a:pPr>
            <a:r>
              <a:rPr sz="1125">
                <a:solidFill>
                  <a:srgbClr val="5F6B7A"/>
                </a:solidFill>
              </a:rPr>
              <a:t>Media de 2 corridas · semillas 42 y 101 · STFT provisional · 2550 evaluaciones por corrida</a:t>
            </a:r>
          </a:p>
        </p:txBody>
      </p:sp>
      <p:sp>
        <p:nvSpPr>
          <p:cNvPr id="4" name="fitness-frame">
            <a:extLst xmlns:a="http://schemas.openxmlformats.org/drawingml/2006/main">
              <a:ext uri="{FF2B5EF4-FFF2-40B4-BE49-F238E27FC236}">
                <a16:creationId xmlns:a16="http://schemas.microsoft.com/office/drawing/2014/main" id="{39E2C84A-6A98-47E7-9C42-BC50AA6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124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B4B8DD8-6D2C-4A93-A38D-6F39300E1755}"/>
              </a:ext>
            </a:extLst>
          </p:cNvPr>
          <p:cNvGraphicFramePr/>
          <p:nvPr/>
        </p:nvGraphicFramePr>
        <p:xfrm>
          <a:off xmlns:a="http://schemas.openxmlformats.org/drawingml/2006/main" x="723900" y="1390650"/>
          <a:ext xmlns:a="http://schemas.openxmlformats.org/drawingml/2006/main" cx="67246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3536ec1eca4696"/>
          </a:graphicData>
        </a:graphic>
      </p:graphicFrame>
      <p:sp>
        <p:nvSpPr>
          <p:cNvPr id="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3B84D06C-06FB-40C7-8154-05252AE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00150"/>
            <a:ext cx="3810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B07B8E7-E40C-4264-868D-9C642D0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  <a:lvl1pPr>
              <a:defRPr sz="2850" b="1">
                <a:solidFill>
                  <a:srgbClr val="FFFFFF"/>
                </a:solidFill>
              </a:defRPr>
            </a:lvl1pPr>
            <a:lvl2pPr>
              <a:defRPr sz="2850" b="1">
                <a:solidFill>
                  <a:srgbClr val="FFFFFF"/>
                </a:solidFill>
              </a:defRPr>
            </a:lvl2pPr>
            <a:lvl3pPr>
              <a:defRPr sz="2850" b="1">
                <a:solidFill>
                  <a:srgbClr val="FFFFFF"/>
                </a:solidFill>
              </a:defRPr>
            </a:lvl3pPr>
            <a:lvl4pPr>
              <a:defRPr sz="2850" b="1">
                <a:solidFill>
                  <a:srgbClr val="FFFFFF"/>
                </a:solidFill>
              </a:defRPr>
            </a:lvl4pPr>
            <a:lvl5pPr>
              <a:defRPr sz="2850" b="1">
                <a:solidFill>
                  <a:srgbClr val="FFFFFF"/>
                </a:solidFill>
              </a:defRPr>
            </a:lvl5pPr>
            <a:lvl6pPr>
              <a:defRPr sz="2850" b="1">
                <a:solidFill>
                  <a:srgbClr val="FFFFFF"/>
                </a:solidFill>
              </a:defRPr>
            </a:lvl6pPr>
            <a:lvl7pPr>
              <a:defRPr sz="2850" b="1">
                <a:solidFill>
                  <a:srgbClr val="FFFFFF"/>
                </a:solidFill>
              </a:defRPr>
            </a:lvl7pPr>
            <a:lvl8pPr>
              <a:defRPr sz="2850" b="1">
                <a:solidFill>
                  <a:srgbClr val="FFFFFF"/>
                </a:solidFill>
              </a:defRPr>
            </a:lvl8pPr>
            <a:lvl9pPr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0.73085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8B082CE-2069-4BF4-A06A-C3220FA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14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DE0DA"/>
                </a:solidFill>
              </a:defRPr>
            </a:defPPr>
            <a:lvl1pPr>
              <a:defRPr sz="1200" b="1">
                <a:solidFill>
                  <a:srgbClr val="8DE0DA"/>
                </a:solidFill>
              </a:defRPr>
            </a:lvl1pPr>
            <a:lvl2pPr>
              <a:defRPr sz="1200" b="1">
                <a:solidFill>
                  <a:srgbClr val="8DE0DA"/>
                </a:solidFill>
              </a:defRPr>
            </a:lvl2pPr>
            <a:lvl3pPr>
              <a:defRPr sz="1200" b="1">
                <a:solidFill>
                  <a:srgbClr val="8DE0DA"/>
                </a:solidFill>
              </a:defRPr>
            </a:lvl3pPr>
            <a:lvl4pPr>
              <a:defRPr sz="1200" b="1">
                <a:solidFill>
                  <a:srgbClr val="8DE0DA"/>
                </a:solidFill>
              </a:defRPr>
            </a:lvl4pPr>
            <a:lvl5pPr>
              <a:defRPr sz="1200" b="1">
                <a:solidFill>
                  <a:srgbClr val="8DE0DA"/>
                </a:solidFill>
              </a:defRPr>
            </a:lvl5pPr>
            <a:lvl6pPr>
              <a:defRPr sz="1200" b="1">
                <a:solidFill>
                  <a:srgbClr val="8DE0DA"/>
                </a:solidFill>
              </a:defRPr>
            </a:lvl6pPr>
            <a:lvl7pPr>
              <a:defRPr sz="1200" b="1">
                <a:solidFill>
                  <a:srgbClr val="8DE0DA"/>
                </a:solidFill>
              </a:defRPr>
            </a:lvl7pPr>
            <a:lvl8pPr>
              <a:defRPr sz="1200" b="1">
                <a:solidFill>
                  <a:srgbClr val="8DE0DA"/>
                </a:solidFill>
              </a:defRPr>
            </a:lvl8pPr>
            <a:lvl9pPr>
              <a:defRPr sz="1200" b="1">
                <a:solidFill>
                  <a:srgbClr val="8DE0D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DE0DA"/>
                </a:solidFill>
              </a:defRPr>
            </a:pPr>
            <a:r>
              <a:rPr sz="1200" b="1">
                <a:solidFill>
                  <a:srgbClr val="8DE0DA"/>
                </a:solidFill>
              </a:rPr>
              <a:t>Mejor fitness medio final · B</a:t>
            </a:r>
          </a:p>
        </p:txBody>
      </p:sp>
      <p:sp>
        <p:nvSpPr>
          <p:cNvPr id="9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3A6C926D-91A4-4E41-9104-D6949B20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812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DDE6EF"/>
                </a:solidFill>
              </a:defRPr>
            </a:defPPr>
            <a:lvl1pPr>
              <a:defRPr sz="900">
                <a:solidFill>
                  <a:srgbClr val="DDE6EF"/>
                </a:solidFill>
              </a:defRPr>
            </a:lvl1pPr>
            <a:lvl2pPr>
              <a:defRPr sz="900">
                <a:solidFill>
                  <a:srgbClr val="DDE6EF"/>
                </a:solidFill>
              </a:defRPr>
            </a:lvl2pPr>
            <a:lvl3pPr>
              <a:defRPr sz="900">
                <a:solidFill>
                  <a:srgbClr val="DDE6EF"/>
                </a:solidFill>
              </a:defRPr>
            </a:lvl3pPr>
            <a:lvl4pPr>
              <a:defRPr sz="900">
                <a:solidFill>
                  <a:srgbClr val="DDE6EF"/>
                </a:solidFill>
              </a:defRPr>
            </a:lvl4pPr>
            <a:lvl5pPr>
              <a:defRPr sz="900">
                <a:solidFill>
                  <a:srgbClr val="DDE6EF"/>
                </a:solidFill>
              </a:defRPr>
            </a:lvl5pPr>
            <a:lvl6pPr>
              <a:defRPr sz="900">
                <a:solidFill>
                  <a:srgbClr val="DDE6EF"/>
                </a:solidFill>
              </a:defRPr>
            </a:lvl6pPr>
            <a:lvl7pPr>
              <a:defRPr sz="900">
                <a:solidFill>
                  <a:srgbClr val="DDE6EF"/>
                </a:solidFill>
              </a:defRPr>
            </a:lvl7pPr>
            <a:lvl8pPr>
              <a:defRPr sz="900">
                <a:solidFill>
                  <a:srgbClr val="DDE6EF"/>
                </a:solidFill>
              </a:defRPr>
            </a:lvl8pPr>
            <a:lvl9pPr>
              <a:defRPr sz="900">
                <a:solidFill>
                  <a:srgbClr val="DDE6EF"/>
                </a:solidFill>
              </a:defRPr>
            </a:lvl9pPr>
          </a:lstStyle>
          <a:p xmlns:a="http://schemas.openxmlformats.org/drawingml/2006/main">
            <a:pPr>
              <a:defRPr sz="900">
                <a:solidFill>
                  <a:srgbClr val="DDE6EF"/>
                </a:solidFill>
              </a:defRPr>
            </a:pPr>
            <a:r>
              <a:rPr sz="900">
                <a:solidFill>
                  <a:srgbClr val="DDE6EF"/>
                </a:solidFill>
              </a:rPr>
              <a:t>Torneo + uniforme + gaussiana</a:t>
            </a:r>
          </a:p>
        </p:txBody>
      </p:sp>
      <p:sp>
        <p:nvSpPr>
          <p:cNvPr id="10" name="diversity-frame">
            <a:extLst xmlns:a="http://schemas.openxmlformats.org/drawingml/2006/main">
              <a:ext uri="{FF2B5EF4-FFF2-40B4-BE49-F238E27FC236}">
                <a16:creationId xmlns:a16="http://schemas.microsoft.com/office/drawing/2014/main" id="{55010DCA-78BF-4A85-9428-31E0714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3810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C8B33EF1-7BC5-4BC0-A307-2ED9FF332536}"/>
              </a:ext>
            </a:extLst>
          </p:cNvPr>
          <p:cNvGraphicFramePr/>
          <p:nvPr/>
        </p:nvGraphicFramePr>
        <p:xfrm>
          <a:off xmlns:a="http://schemas.openxmlformats.org/drawingml/2006/main" x="8096250" y="2819400"/>
          <a:ext xmlns:a="http://schemas.openxmlformats.org/drawingml/2006/main" cx="3352800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bdaa8479fa4bd9"/>
          </a:graphicData>
        </a:graphic>
      </p:graphicFrame>
      <p:sp>
        <p:nvSpPr>
          <p:cNvPr id="12" name="caveat-frame">
            <a:extLst xmlns:a="http://schemas.openxmlformats.org/drawingml/2006/main">
              <a:ext uri="{FF2B5EF4-FFF2-40B4-BE49-F238E27FC236}">
                <a16:creationId xmlns:a16="http://schemas.microsoft.com/office/drawing/2014/main" id="{DBEE8992-7AEE-46F0-91A9-2050D8D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1163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4288">
            <a:solidFill>
              <a:srgbClr val="F4A261"/>
            </a:solidFill>
            <a:prstDash val="solid"/>
          </a:ln>
        </p:spPr>
      </p:sp>
      <p:sp>
        <p:nvSpPr>
          <p:cNvPr id="13" name="caveat-title">
            <a:extLst xmlns:a="http://schemas.openxmlformats.org/drawingml/2006/main">
              <a:ext uri="{FF2B5EF4-FFF2-40B4-BE49-F238E27FC236}">
                <a16:creationId xmlns:a16="http://schemas.microsoft.com/office/drawing/2014/main" id="{E7A2761E-939F-48E3-B2AE-0EED566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44A12"/>
                </a:solidFill>
              </a:defRPr>
            </a:defPPr>
            <a:lvl1pPr>
              <a:defRPr sz="825" b="1">
                <a:solidFill>
                  <a:srgbClr val="A44A12"/>
                </a:solidFill>
              </a:defRPr>
            </a:lvl1pPr>
            <a:lvl2pPr>
              <a:defRPr sz="825" b="1">
                <a:solidFill>
                  <a:srgbClr val="A44A12"/>
                </a:solidFill>
              </a:defRPr>
            </a:lvl2pPr>
            <a:lvl3pPr>
              <a:defRPr sz="825" b="1">
                <a:solidFill>
                  <a:srgbClr val="A44A12"/>
                </a:solidFill>
              </a:defRPr>
            </a:lvl3pPr>
            <a:lvl4pPr>
              <a:defRPr sz="825" b="1">
                <a:solidFill>
                  <a:srgbClr val="A44A12"/>
                </a:solidFill>
              </a:defRPr>
            </a:lvl4pPr>
            <a:lvl5pPr>
              <a:defRPr sz="825" b="1">
                <a:solidFill>
                  <a:srgbClr val="A44A12"/>
                </a:solidFill>
              </a:defRPr>
            </a:lvl5pPr>
            <a:lvl6pPr>
              <a:defRPr sz="825" b="1">
                <a:solidFill>
                  <a:srgbClr val="A44A12"/>
                </a:solidFill>
              </a:defRPr>
            </a:lvl6pPr>
            <a:lvl7pPr>
              <a:defRPr sz="825" b="1">
                <a:solidFill>
                  <a:srgbClr val="A44A12"/>
                </a:solidFill>
              </a:defRPr>
            </a:lvl7pPr>
            <a:lvl8pPr>
              <a:defRPr sz="825" b="1">
                <a:solidFill>
                  <a:srgbClr val="A44A12"/>
                </a:solidFill>
              </a:defRPr>
            </a:lvl8pPr>
            <a:lvl9pPr>
              <a:defRPr sz="825" b="1">
                <a:solidFill>
                  <a:srgbClr val="A44A1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A44A12"/>
                </a:solidFill>
              </a:defRPr>
            </a:pPr>
            <a:r>
              <a:rPr sz="825" b="1">
                <a:solidFill>
                  <a:srgbClr val="A44A12"/>
                </a:solidFill>
              </a:rPr>
              <a:t>LECTURA RESPONSABLE</a:t>
            </a:r>
          </a:p>
        </p:txBody>
      </p:sp>
      <p:sp>
        <p:nvSpPr>
          <p:cNvPr id="14" name="caveat-text">
            <a:extLst xmlns:a="http://schemas.openxmlformats.org/drawingml/2006/main">
              <a:ext uri="{FF2B5EF4-FFF2-40B4-BE49-F238E27FC236}">
                <a16:creationId xmlns:a16="http://schemas.microsoft.com/office/drawing/2014/main" id="{C72CCB41-B11D-4ACC-91B5-5FF6F49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33313"/>
                </a:solidFill>
              </a:defRPr>
            </a:defPPr>
            <a:lvl1pPr>
              <a:defRPr sz="1050">
                <a:solidFill>
                  <a:srgbClr val="633313"/>
                </a:solidFill>
              </a:defRPr>
            </a:lvl1pPr>
            <a:lvl2pPr>
              <a:defRPr sz="1050">
                <a:solidFill>
                  <a:srgbClr val="633313"/>
                </a:solidFill>
              </a:defRPr>
            </a:lvl2pPr>
            <a:lvl3pPr>
              <a:defRPr sz="1050">
                <a:solidFill>
                  <a:srgbClr val="633313"/>
                </a:solidFill>
              </a:defRPr>
            </a:lvl3pPr>
            <a:lvl4pPr>
              <a:defRPr sz="1050">
                <a:solidFill>
                  <a:srgbClr val="633313"/>
                </a:solidFill>
              </a:defRPr>
            </a:lvl4pPr>
            <a:lvl5pPr>
              <a:defRPr sz="1050">
                <a:solidFill>
                  <a:srgbClr val="633313"/>
                </a:solidFill>
              </a:defRPr>
            </a:lvl5pPr>
            <a:lvl6pPr>
              <a:defRPr sz="1050">
                <a:solidFill>
                  <a:srgbClr val="633313"/>
                </a:solidFill>
              </a:defRPr>
            </a:lvl6pPr>
            <a:lvl7pPr>
              <a:defRPr sz="1050">
                <a:solidFill>
                  <a:srgbClr val="633313"/>
                </a:solidFill>
              </a:defRPr>
            </a:lvl7pPr>
            <a:lvl8pPr>
              <a:defRPr sz="1050">
                <a:solidFill>
                  <a:srgbClr val="633313"/>
                </a:solidFill>
              </a:defRPr>
            </a:lvl8pPr>
            <a:lvl9pPr>
              <a:defRPr sz="1050">
                <a:solidFill>
                  <a:srgbClr val="633313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33313"/>
                </a:solidFill>
              </a:defRPr>
            </a:pPr>
            <a:r>
              <a:rPr sz="1050">
                <a:solidFill>
                  <a:srgbClr val="633313"/>
                </a:solidFill>
              </a:rPr>
              <a:t>B es una recomendación preliminar: A ganó con semilla 42 y B con 101. Dos réplicas no prueban superioridad general; la baja diversidad de A/B indica concentración, no demuestra por sí sola convergencia prematura.</a:t>
            </a:r>
          </a:p>
        </p:txBody>
      </p:sp>
    </p:spTree>
    <p:extLst>
      <p:ext uri="{BB962C8B-B14F-4D97-AF65-F5344CB8AC3E}">
        <p14:creationId xmlns:p14="http://schemas.microsoft.com/office/powerpoint/2010/main" val="452888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2026-10-21T16:19:12.2180000Z</dcterms:created>
  <dcterms:modified xsi:type="dcterms:W3CDTF">2026-10-21T16:19:12.2180000Z</dcterms:modified>
</coreProperties>
</file>